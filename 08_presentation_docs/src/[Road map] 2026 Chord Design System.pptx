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xmlns=""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embedTrueType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embeddedFontLst>
    <p:embeddedFont>
      <p:font typeface="CircularXX TT"/>
      <p:regular r:id="rId21"/>
    </p:embeddedFont>
    <p:embeddedFont>
      <p:font typeface="Preahvihear"/>
      <p:regular r:id="rId22"/>
    </p:embeddedFont>
    <p:embeddedFont>
      <p:font typeface="Pretendard"/>
      <p:regular r:id="rId23"/>
    </p:embeddedFont>
    <p:embeddedFont>
      <p:font typeface="Inter"/>
      <p:regular r:id="rId2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xmlns="" Id="rId21" Type="http://schemas.openxmlformats.org/officeDocument/2006/relationships/font" Target="fonts/rId21.fntdata"/><Relationship xmlns="" Id="rId22" Type="http://schemas.openxmlformats.org/officeDocument/2006/relationships/font" Target="fonts/rId22.fntdata"/><Relationship xmlns="" Id="rId23" Type="http://schemas.openxmlformats.org/officeDocument/2006/relationships/font" Target="fonts/rId23.fntdata"/><Relationship xmlns="" Id="rId24" Type="http://schemas.openxmlformats.org/officeDocument/2006/relationships/font" Target="fonts/rId2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brunch.co.kr/@8a0100de7ca0488/13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hyperlink" Target="https://docs.google.com/document/d/1gq-2OwldHjShmm0eYyqfAQ5IcaWcx-YU6bjUp2fE2jY/edit?usp=sharing" TargetMode="External"/><Relationship Id="rId2" Type="http://schemas.openxmlformats.org/officeDocument/2006/relationships/hyperlink" Target="https://docs.google.com/document/d/17I5dJ028B_eIBEDA2VNZ0LX2O1abFCVHDzg1kH19m6I/edit?usp=sharing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75" y="4776788"/>
            <a:ext cx="32718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spc="-19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Weverse Product Design 1 Team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5619750" y="4776788"/>
            <a:ext cx="32718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026"/>
              </a:lnSpc>
              <a:buNone/>
            </a:pPr>
            <a:r>
              <a:rPr lang="en-US" sz="855" b="1" spc="-19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2026.04.11 update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257175" y="1885950"/>
            <a:ext cx="8634413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130"/>
              </a:lnSpc>
              <a:buNone/>
            </a:pPr>
            <a:r>
              <a:rPr lang="en-US" sz="4275" b="1" spc="-85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Chord Design System</a:t>
            </a:r>
            <a:endParaRPr lang="en-US" sz="4275" dirty="0"/>
          </a:p>
          <a:p>
            <a:pPr algn="l" indent="0" marL="0">
              <a:lnSpc>
                <a:spcPts val="5130"/>
              </a:lnSpc>
              <a:buNone/>
            </a:pPr>
            <a:r>
              <a:rPr lang="en-US" sz="4275" b="1" spc="-85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2023-2025 Recap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6315075" y="3495675"/>
            <a:ext cx="2352675" cy="976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고도화 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 프로세스 도입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고도화 (개발 효율성 강화)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Usage 제작 (디자이너 인식 확장)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개발과의 연계 시작</a:t>
            </a:r>
            <a:endParaRPr lang="en-US" sz="1069" dirty="0"/>
          </a:p>
        </p:txBody>
      </p:sp>
      <p:sp>
        <p:nvSpPr>
          <p:cNvPr id="4" name="Text 2"/>
          <p:cNvSpPr/>
          <p:nvPr/>
        </p:nvSpPr>
        <p:spPr>
          <a:xfrm>
            <a:off x="3529013" y="3495675"/>
            <a:ext cx="1905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구축 </a:t>
            </a:r>
            <a:pPr algn="l" indent="0" marL="0">
              <a:lnSpc>
                <a:spcPts val="1453"/>
              </a:lnSpc>
              <a:buNone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 with 위버스 3.0</a:t>
            </a:r>
            <a:endParaRPr lang="en-US" sz="1069" dirty="0"/>
          </a:p>
        </p:txBody>
      </p:sp>
      <p:sp>
        <p:nvSpPr>
          <p:cNvPr id="5" name="Text 3"/>
          <p:cNvSpPr/>
          <p:nvPr/>
        </p:nvSpPr>
        <p:spPr>
          <a:xfrm>
            <a:off x="476250" y="2795588"/>
            <a:ext cx="19050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5"/>
              </a:lnSpc>
              <a:buNone/>
            </a:pPr>
            <a:r>
              <a:rPr lang="en-US" sz="1496" b="1" spc="-30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2023</a:t>
            </a:r>
            <a:endParaRPr lang="en-US" sz="1496" dirty="0"/>
          </a:p>
        </p:txBody>
      </p:sp>
      <p:sp>
        <p:nvSpPr>
          <p:cNvPr id="6" name="Text 4"/>
          <p:cNvSpPr/>
          <p:nvPr/>
        </p:nvSpPr>
        <p:spPr>
          <a:xfrm>
            <a:off x="3529013" y="2795588"/>
            <a:ext cx="19050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5"/>
              </a:lnSpc>
              <a:buNone/>
            </a:pPr>
            <a:r>
              <a:rPr lang="en-US" sz="1496" b="1" spc="-30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2024</a:t>
            </a:r>
            <a:endParaRPr lang="en-US" sz="1496" dirty="0"/>
          </a:p>
        </p:txBody>
      </p:sp>
      <p:sp>
        <p:nvSpPr>
          <p:cNvPr id="7" name="Text 5"/>
          <p:cNvSpPr/>
          <p:nvPr/>
        </p:nvSpPr>
        <p:spPr>
          <a:xfrm>
            <a:off x="6315075" y="2795588"/>
            <a:ext cx="1905000" cy="261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75"/>
              </a:lnSpc>
              <a:buNone/>
            </a:pPr>
            <a:r>
              <a:rPr lang="en-US" sz="1496" b="1" spc="-30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2025</a:t>
            </a:r>
            <a:endParaRPr lang="en-US" sz="1496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3813" y="3226594"/>
            <a:ext cx="9110663" cy="952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76250" y="3157538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Shape 7"/>
          <p:cNvSpPr/>
          <p:nvPr/>
        </p:nvSpPr>
        <p:spPr>
          <a:xfrm>
            <a:off x="3529013" y="3157538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6315075" y="3157538"/>
            <a:ext cx="133350" cy="13335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76250" y="3495675"/>
            <a:ext cx="22860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3"/>
              </a:lnSpc>
              <a:buNone/>
            </a:pPr>
            <a:r>
              <a:rPr lang="en-US" sz="1069" b="1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도입 검토</a:t>
            </a:r>
            <a:endParaRPr lang="en-US" sz="1069" dirty="0"/>
          </a:p>
          <a:p>
            <a:pPr algn="l" marL="342900" indent="-342900">
              <a:lnSpc>
                <a:spcPts val="1453"/>
              </a:lnSpc>
              <a:buSzPct val="100000"/>
              <a:buChar char="•"/>
            </a:pPr>
            <a:r>
              <a:rPr lang="en-US" sz="1069" spc="-1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타사 리서치 및 방향성 설정</a:t>
            </a:r>
            <a:endParaRPr lang="en-US" sz="1069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Chord Design System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76250" y="4800600"/>
            <a:ext cx="556260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spc="-19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Sparkbox의 디자인 시스템 성숙도 5단계</a:t>
            </a:r>
            <a:endParaRPr lang="en-US" sz="855" dirty="0"/>
          </a:p>
        </p:txBody>
      </p:sp>
      <p:sp>
        <p:nvSpPr>
          <p:cNvPr id="4" name="Text 2"/>
          <p:cNvSpPr/>
          <p:nvPr/>
        </p:nvSpPr>
        <p:spPr>
          <a:xfrm>
            <a:off x="476250" y="1752600"/>
            <a:ext cx="1509713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1단계: 시작 단계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147888" y="1752600"/>
            <a:ext cx="1509713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2단계: 구축 단계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819525" y="1752600"/>
            <a:ext cx="1509713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3단계: 확산 단계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491163" y="1752600"/>
            <a:ext cx="15049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4단계: 지속 단계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7158038" y="1752600"/>
            <a:ext cx="1509713" cy="62865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5단계: 진화 단계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619375"/>
            <a:ext cx="1509713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시스템의 필요성을 인식하고 파편화된 UI 요소들을 모으기 시작하는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공식적인 시스템이라기보다 '스타일 가이드'나 'UI 키트'에 가깝습니다.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특정 디자이너의 로컬 파일에 존재하거나, 문서화가 거의 되어 있지 않습니다.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2157413" y="2619375"/>
            <a:ext cx="1509713" cy="144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본격적으로 컴포넌트를 설계하고 코드로 구현하는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색상, 타이포그래피, 버튼 등 기초 자산이 정의됩니다.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시스템을 전담하거나 부분적으로 담당하는 팀이 생기기 시작하며, 기술 스택이 결정됩니다.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3805237" y="2619375"/>
            <a:ext cx="1509713" cy="1990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만들어진 시스템을 실제 제품 팀들이 가져다 쓰기 시작하는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"이걸 왜 써야 하죠?"라는 질문에 답해야 하는 시기입니다. 사용법에 대한 문서화가 중요해집니다.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여러 프로젝트에서 공통된 라이브러리를 참조하며, 일관성이 눈에 보이기 시작합니다.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5472113" y="2619375"/>
            <a:ext cx="1509713" cy="1628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일회성 프로젝트가 아니라 '하나의 제품'으로 취급받는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새로운 요구사항을 반영하는 '거버넌스' 프로세스가 정립됩니다.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버그 수정, 업데이트 배포 주기, 버전 관리가 체계적으로 이루어집니다.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7158038" y="2619375"/>
            <a:ext cx="1509713" cy="1990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시스템이 조직의 문화로 자리 잡고, 전략적인 자산이 되는 최종 단계입니다.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특징: 시스템이 스스로 변화에 적응합니다. 새로운 기술(예: 새로운 프레임워크 전환)이 도입되어도 유연하게 대처합니다.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상태: 조직 전체가 시스템의 가치를 이해하며, 기여 모델이 활성화되어 선순환 구조를 이룹니다.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1671638" y="1276350"/>
            <a:ext cx="9144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spc="-28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2023-2024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000625" y="1276350"/>
            <a:ext cx="909638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spc="-28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2024-2025</a:t>
            </a:r>
            <a:endParaRPr lang="en-US" sz="1425" dirty="0"/>
          </a:p>
        </p:txBody>
      </p:sp>
      <p:sp>
        <p:nvSpPr>
          <p:cNvPr id="16" name="Text 14"/>
          <p:cNvSpPr/>
          <p:nvPr/>
        </p:nvSpPr>
        <p:spPr>
          <a:xfrm>
            <a:off x="7634288" y="1276350"/>
            <a:ext cx="557213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81"/>
              </a:lnSpc>
              <a:buNone/>
            </a:pPr>
            <a:r>
              <a:rPr lang="en-US" sz="1425" b="1" spc="-28" kern="0" dirty="0">
                <a:solidFill>
                  <a:srgbClr val="00CBD5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2026~</a:t>
            </a:r>
            <a:endParaRPr lang="en-US" sz="1425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5300" y="1609725"/>
            <a:ext cx="3176588" cy="70142"/>
          </a:xfrm>
          <a:prstGeom prst="rect">
            <a:avLst/>
          </a:prstGeom>
        </p:spPr>
      </p:pic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9525" y="1609725"/>
            <a:ext cx="3176588" cy="70142"/>
          </a:xfrm>
          <a:prstGeom prst="rect">
            <a:avLst/>
          </a:prstGeom>
        </p:spPr>
      </p:pic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67563" y="1609725"/>
            <a:ext cx="1504950" cy="7014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012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Goal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1214438" y="4362450"/>
            <a:ext cx="6724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lnSpc>
                <a:spcPts val="2280"/>
              </a:lnSpc>
              <a:buNone/>
            </a:pPr>
            <a:r>
              <a:rPr lang="en-US" sz="1425" spc="-28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중앙 집중형 (Centralized)에서 </a:t>
            </a:r>
            <a:pPr algn="ctr" indent="0" marL="0">
              <a:lnSpc>
                <a:spcPts val="2280"/>
              </a:lnSpc>
              <a:buNone/>
            </a:pPr>
            <a:r>
              <a:rPr lang="en-US" sz="1425" b="1" spc="-28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하이브리드 모델 (Hybrid Model)로의 진화</a:t>
            </a:r>
            <a:endParaRPr lang="en-US" sz="1425" dirty="0"/>
          </a:p>
        </p:txBody>
      </p:sp>
      <p:sp>
        <p:nvSpPr>
          <p:cNvPr id="4" name="Text 2"/>
          <p:cNvSpPr/>
          <p:nvPr/>
        </p:nvSpPr>
        <p:spPr>
          <a:xfrm>
            <a:off x="2185988" y="1204913"/>
            <a:ext cx="390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AS-IS</a:t>
            </a:r>
            <a:endParaRPr lang="en-US" sz="1069" dirty="0"/>
          </a:p>
        </p:txBody>
      </p:sp>
      <p:sp>
        <p:nvSpPr>
          <p:cNvPr id="5" name="Text 3"/>
          <p:cNvSpPr/>
          <p:nvPr/>
        </p:nvSpPr>
        <p:spPr>
          <a:xfrm>
            <a:off x="6162675" y="1204913"/>
            <a:ext cx="4429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TO-BE</a:t>
            </a:r>
            <a:endParaRPr lang="en-US" sz="1069" dirty="0"/>
          </a:p>
        </p:txBody>
      </p:sp>
      <p:sp>
        <p:nvSpPr>
          <p:cNvPr id="6" name="Shape 4"/>
          <p:cNvSpPr/>
          <p:nvPr/>
        </p:nvSpPr>
        <p:spPr>
          <a:xfrm>
            <a:off x="1176338" y="1652588"/>
            <a:ext cx="2405063" cy="2405063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181600" y="1652588"/>
            <a:ext cx="2405063" cy="2405063"/>
          </a:xfrm>
          <a:prstGeom prst="ellipse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76375" y="1952625"/>
            <a:ext cx="1804988" cy="1804988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814513" y="2290763"/>
            <a:ext cx="1138238" cy="1138238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095500" y="2571750"/>
            <a:ext cx="566738" cy="56673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1676400" y="328612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681663" y="328612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2786063" y="1905000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6943725" y="2005013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1676400" y="227647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Shape 14"/>
          <p:cNvSpPr/>
          <p:nvPr/>
        </p:nvSpPr>
        <p:spPr>
          <a:xfrm>
            <a:off x="5624513" y="227647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057525" y="328612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062788" y="3286125"/>
            <a:ext cx="271463" cy="27146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2447925" y="3586163"/>
            <a:ext cx="138113" cy="138113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6453188" y="3586163"/>
            <a:ext cx="138113" cy="138113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09825" y="3131344"/>
            <a:ext cx="112444" cy="439000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15088" y="3131344"/>
            <a:ext cx="136936" cy="442913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6148388" y="2609850"/>
            <a:ext cx="471488" cy="471488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2152650" y="2705100"/>
            <a:ext cx="4572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Chord</a:t>
            </a:r>
            <a:endParaRPr lang="en-US" sz="1069" dirty="0"/>
          </a:p>
          <a:p>
            <a:pPr algn="ctr" indent="0" marL="0">
              <a:lnSpc>
                <a:spcPts val="1411"/>
              </a:lnSpc>
              <a:buNone/>
            </a:pPr>
            <a:r>
              <a:rPr lang="en-US" sz="713" b="1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(only one)</a:t>
            </a:r>
            <a:endParaRPr lang="en-US" sz="1069" dirty="0"/>
          </a:p>
        </p:txBody>
      </p:sp>
      <p:sp>
        <p:nvSpPr>
          <p:cNvPr id="25" name="Text 21"/>
          <p:cNvSpPr/>
          <p:nvPr/>
        </p:nvSpPr>
        <p:spPr>
          <a:xfrm>
            <a:off x="6176963" y="2705100"/>
            <a:ext cx="419100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Chord </a:t>
            </a:r>
            <a:pPr algn="ctr" indent="0" marL="0">
              <a:lnSpc>
                <a:spcPts val="1411"/>
              </a:lnSpc>
              <a:buNone/>
            </a:pPr>
            <a:r>
              <a:rPr lang="en-US" sz="713" b="1" spc="-21" kern="0" dirty="0">
                <a:solidFill>
                  <a:srgbClr val="000000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(core)</a:t>
            </a:r>
            <a:endParaRPr lang="en-US" sz="1069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566988" y="2179506"/>
            <a:ext cx="289064" cy="473207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72250" y="2178844"/>
            <a:ext cx="390678" cy="476251"/>
          </a:xfrm>
          <a:prstGeom prst="rect">
            <a:avLst/>
          </a:prstGeom>
        </p:spPr>
      </p:pic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914525" y="2512219"/>
            <a:ext cx="264816" cy="20963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895975" y="2493169"/>
            <a:ext cx="266700" cy="216411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924050" y="3067050"/>
            <a:ext cx="267686" cy="267686"/>
          </a:xfrm>
          <a:prstGeom prst="rect">
            <a:avLst/>
          </a:prstGeom>
        </p:spPr>
      </p:pic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5929313" y="3067050"/>
            <a:ext cx="269081" cy="269081"/>
          </a:xfrm>
          <a:prstGeom prst="rect">
            <a:avLst/>
          </a:prstGeom>
        </p:spPr>
      </p:pic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612231" y="3021806"/>
            <a:ext cx="469376" cy="326588"/>
          </a:xfrm>
          <a:prstGeom prst="rect">
            <a:avLst/>
          </a:prstGeom>
        </p:spPr>
      </p:pic>
      <p:pic>
        <p:nvPicPr>
          <p:cNvPr id="33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617494" y="3021806"/>
            <a:ext cx="471488" cy="335702"/>
          </a:xfrm>
          <a:prstGeom prst="rect">
            <a:avLst/>
          </a:prstGeom>
        </p:spPr>
      </p:pic>
      <p:sp>
        <p:nvSpPr>
          <p:cNvPr id="34" name="Text 22"/>
          <p:cNvSpPr/>
          <p:nvPr/>
        </p:nvSpPr>
        <p:spPr>
          <a:xfrm>
            <a:off x="5848350" y="1947863"/>
            <a:ext cx="9858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Systems</a:t>
            </a:r>
            <a:endParaRPr lang="en-US" sz="1069" dirty="0"/>
          </a:p>
        </p:txBody>
      </p:sp>
      <p:pic>
        <p:nvPicPr>
          <p:cNvPr id="35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3938588" y="2831793"/>
            <a:ext cx="844067" cy="94125"/>
          </a:xfrm>
          <a:prstGeom prst="rect">
            <a:avLst/>
          </a:prstGeom>
        </p:spPr>
      </p:pic>
      <p:sp>
        <p:nvSpPr>
          <p:cNvPr id="36" name="Text 23"/>
          <p:cNvSpPr/>
          <p:nvPr/>
        </p:nvSpPr>
        <p:spPr>
          <a:xfrm>
            <a:off x="3709988" y="4667250"/>
            <a:ext cx="1728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855" b="1" u="sng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모델의 형태 →</a:t>
            </a:r>
            <a:endParaRPr lang="en-US" sz="85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Goal - Maturity Model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76250" y="1581150"/>
            <a:ext cx="55626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Nathan Curtis의 팀 모델 (Team Models) 디자인 시스템 형태</a:t>
            </a:r>
            <a:endParaRPr lang="en-US" sz="1069" dirty="0"/>
          </a:p>
        </p:txBody>
      </p:sp>
      <p:sp>
        <p:nvSpPr>
          <p:cNvPr id="4" name="Text 2"/>
          <p:cNvSpPr/>
          <p:nvPr/>
        </p:nvSpPr>
        <p:spPr>
          <a:xfrm>
            <a:off x="6681788" y="1581150"/>
            <a:ext cx="198596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1069" b="1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대규모 테크 기업들의 선택 모델</a:t>
            </a:r>
            <a:endParaRPr lang="en-US" sz="1069" dirty="0"/>
          </a:p>
        </p:txBody>
      </p:sp>
      <p:sp>
        <p:nvSpPr>
          <p:cNvPr id="5" name="Text 3"/>
          <p:cNvSpPr/>
          <p:nvPr/>
        </p:nvSpPr>
        <p:spPr>
          <a:xfrm>
            <a:off x="476250" y="2038350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고립형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(Solitary)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390775" y="2038350"/>
            <a:ext cx="1733550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중앙 집중형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(Centralized)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310063" y="2038350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연합형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(Federated)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681788" y="2038350"/>
            <a:ext cx="1728788" cy="62865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하이브리드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(Hybrid)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76250" y="2952750"/>
            <a:ext cx="172878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특정 프로젝트 팀 내에서 필요에 의해 산발적으로 생성된 시스템. 공유되지 않고 파편화되어 있습니다.</a:t>
            </a:r>
            <a:endParaRPr lang="en-US" sz="855" dirty="0"/>
          </a:p>
        </p:txBody>
      </p:sp>
      <p:sp>
        <p:nvSpPr>
          <p:cNvPr id="10" name="Text 8"/>
          <p:cNvSpPr/>
          <p:nvPr/>
        </p:nvSpPr>
        <p:spPr>
          <a:xfrm>
            <a:off x="2390775" y="2952750"/>
            <a:ext cx="173355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전담 팀이 구성되어 시스템을 구축하고 유지보수하며 다른 제품 팀에 배포합니다. 효율적이지만 확장성에 한계가 있습니다.</a:t>
            </a:r>
            <a:endParaRPr lang="en-US" sz="855" dirty="0"/>
          </a:p>
        </p:txBody>
      </p:sp>
      <p:sp>
        <p:nvSpPr>
          <p:cNvPr id="11" name="Text 9"/>
          <p:cNvSpPr/>
          <p:nvPr/>
        </p:nvSpPr>
        <p:spPr>
          <a:xfrm>
            <a:off x="4310063" y="2952750"/>
            <a:ext cx="1728788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여러 제품 팀의 대표들이 모여 시스템을 함께 만들어가는 형태. 중앙 팀은 가이드를 제공하고, 실제 컴포넌트는 각 도메인 전문가들이 기여합니다. 가장 성숙하고 확장성이 높은 모델입니다.</a:t>
            </a:r>
            <a:endParaRPr lang="en-US" sz="855" dirty="0"/>
          </a:p>
        </p:txBody>
      </p:sp>
      <p:sp>
        <p:nvSpPr>
          <p:cNvPr id="12" name="Text 10"/>
          <p:cNvSpPr/>
          <p:nvPr/>
        </p:nvSpPr>
        <p:spPr>
          <a:xfrm>
            <a:off x="6681788" y="2952750"/>
            <a:ext cx="1728788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강력한 권한을 가진 중앙 팀이 '핵심 파운데이션(Core Foundation)'과 '글로벌 컴포넌트'를 관리하되, 각 버티컬 팀에게 '로컬 시스템(Local System)'을 구축할 권한을 위임하는 구조입니다.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6681788" y="4138613"/>
            <a:ext cx="172878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Salesforce, Pinterest, Atlassian, 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Airbnb, Spotity, LINE, Google ...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476250" y="4138613"/>
            <a:ext cx="1728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스타트업, 단일 제품 기업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2395538" y="4138613"/>
            <a:ext cx="1728788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Airbnb, Carbon의 초기 모델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Apple</a:t>
            </a:r>
            <a:endParaRPr lang="en-US" sz="855" dirty="0"/>
          </a:p>
        </p:txBody>
      </p:sp>
      <p:sp>
        <p:nvSpPr>
          <p:cNvPr id="16" name="Text 14"/>
          <p:cNvSpPr/>
          <p:nvPr/>
        </p:nvSpPr>
        <p:spPr>
          <a:xfrm>
            <a:off x="4314825" y="4138613"/>
            <a:ext cx="172878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Spotify의 초기 모델</a:t>
            </a:r>
            <a:endParaRPr lang="en-US" sz="855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60319" y="1581150"/>
            <a:ext cx="4763" cy="32004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596063" y="1943100"/>
            <a:ext cx="1900238" cy="2952750"/>
          </a:xfrm>
          <a:prstGeom prst="rect">
            <a:avLst/>
          </a:prstGeom>
          <a:noFill/>
          <a:ln w="18097">
            <a:solidFill>
              <a:srgbClr val="00CBD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2309813" y="1943100"/>
            <a:ext cx="1900238" cy="2952750"/>
          </a:xfrm>
          <a:prstGeom prst="rect">
            <a:avLst/>
          </a:prstGeom>
          <a:noFill/>
          <a:ln w="9049">
            <a:solidFill>
              <a:srgbClr val="FFFFFF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98119" y="1657727"/>
            <a:ext cx="2807345" cy="3898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81012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Goal - 2 Point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3252788" y="3028950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사용자 맥락 &gt; 일관성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252788" y="1243013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중앙 통제 &gt; 자율적 판단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1012" y="1243013"/>
            <a:ext cx="2452688" cy="1481138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Core System 강화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81012" y="3028950"/>
            <a:ext cx="2452688" cy="1481138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Local System 위임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252788" y="3881438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다양성 &gt; 브랜드 보이스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252788" y="2095500"/>
            <a:ext cx="1728788" cy="6286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확장성 &gt; 문제 해결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76838" y="3100388"/>
            <a:ext cx="290512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화면에 동일한 규칙을 적용하기보다 각 기능의 특수한 상황과 맥락을 더 존중한다.</a:t>
            </a:r>
            <a:endParaRPr lang="en-US" sz="1140" dirty="0"/>
          </a:p>
        </p:txBody>
      </p:sp>
      <p:sp>
        <p:nvSpPr>
          <p:cNvPr id="10" name="Text 8"/>
          <p:cNvSpPr/>
          <p:nvPr/>
        </p:nvSpPr>
        <p:spPr>
          <a:xfrm>
            <a:off x="5176838" y="1314450"/>
            <a:ext cx="3119438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디자이너의 개별 판단보다는 시스템 담당과의 싱크를 통한 관리를 우선한다.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5176838" y="3952875"/>
            <a:ext cx="335756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 브랜드의 통일감보다는 입점한 각 아티스트(IP)의 고유한 매력과 다양성을 살리는 데 집중한다.</a:t>
            </a:r>
            <a:endParaRPr lang="en-US" sz="1140" dirty="0"/>
          </a:p>
        </p:txBody>
      </p:sp>
      <p:sp>
        <p:nvSpPr>
          <p:cNvPr id="12" name="Text 10"/>
          <p:cNvSpPr/>
          <p:nvPr/>
        </p:nvSpPr>
        <p:spPr>
          <a:xfrm>
            <a:off x="5176838" y="2166938"/>
            <a:ext cx="3495675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당장의 불편 해결에 매몰되기보다 나중에 어떤 기능이 붙어도 문제없도록 미래를 설계하는 확장성을 우선한다.</a:t>
            </a:r>
            <a:endParaRPr lang="en-US" sz="114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1012" y="2876550"/>
            <a:ext cx="8115300" cy="4763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5775" y="4738688"/>
            <a:ext cx="817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 디자인 시스템 워크샵을 통해 도출한 키워드를 기반으로 설정</a:t>
            </a:r>
            <a:endParaRPr lang="en-US" sz="85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Key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4891088" y="1905000"/>
            <a:ext cx="3776662" cy="2495550"/>
          </a:xfrm>
          <a:prstGeom prst="rect">
            <a:avLst/>
          </a:prstGeom>
          <a:noFill/>
          <a:ln/>
        </p:spPr>
      </p:sp>
      <p:sp>
        <p:nvSpPr>
          <p:cNvPr id="4" name="Text 2"/>
          <p:cNvSpPr/>
          <p:nvPr/>
        </p:nvSpPr>
        <p:spPr>
          <a:xfrm>
            <a:off x="4891088" y="1905000"/>
            <a:ext cx="3776662" cy="1123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Local System 위임을 위한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디자인 시스템 기여 프로세스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891088" y="3314700"/>
            <a:ext cx="3776662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담당 디자이너와 사용자(프로덕트 디자이너) 간의 간극을 줄여야 합니다.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새로운 컴포넌트가 필요하거나 기존 것이 수정되어야 할 때, 누구나 제안하고 시스템에 반영되는 기여 프로세스를 운영하고자 합니다.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: Shopify의 Polaris는 누구나 시스템 개선을 제안할 수 있는 명확한 채널을 운영하여 '모두의 시스템'이라는 인식을 심어줍니다.</a:t>
            </a:r>
            <a:endParaRPr lang="en-US" sz="855" dirty="0"/>
          </a:p>
        </p:txBody>
      </p:sp>
      <p:sp>
        <p:nvSpPr>
          <p:cNvPr id="6" name="Shape 4"/>
          <p:cNvSpPr/>
          <p:nvPr/>
        </p:nvSpPr>
        <p:spPr>
          <a:xfrm>
            <a:off x="476250" y="1905000"/>
            <a:ext cx="3776662" cy="2314575"/>
          </a:xfrm>
          <a:prstGeom prst="rect">
            <a:avLst/>
          </a:prstGeom>
          <a:noFill/>
          <a:ln/>
        </p:spPr>
      </p:sp>
      <p:sp>
        <p:nvSpPr>
          <p:cNvPr id="7" name="Text 5"/>
          <p:cNvSpPr/>
          <p:nvPr/>
        </p:nvSpPr>
        <p:spPr>
          <a:xfrm>
            <a:off x="476250" y="1905000"/>
            <a:ext cx="3776662" cy="112395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Core System 강화를 위한</a:t>
            </a:r>
            <a:endParaRPr lang="en-US" dirty="0"/>
          </a:p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 에이전트 제작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76250" y="3314700"/>
            <a:ext cx="3776662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시스템을 AI에게 학습시키고, 그 기반으로 커스텀 슬롯을 자연어로 생성하여 관리할 수 있게 합니다. 간단한 UX의 경우 커스텀 슬롯 생성 에이전트를 통해 디자인과 개발 공수를 덜 들이고도 배포할 수 있습니다.</a:t>
            </a:r>
            <a:endParaRPr lang="en-US" sz="855" dirty="0"/>
          </a:p>
          <a:p>
            <a:pPr algn="l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사례 : </a:t>
            </a:r>
            <a:pPr algn="l" indent="0" marL="0">
              <a:lnSpc>
                <a:spcPts val="1368"/>
              </a:lnSpc>
              <a:buNone/>
            </a:pPr>
            <a:r>
              <a:rPr lang="en-US" sz="855" b="1" u="sng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팀스파르타 - 디자인 시스템이 AI를 만났을때 (MCP 활용기)</a:t>
            </a:r>
            <a:endParaRPr lang="en-US" sz="855" dirty="0"/>
          </a:p>
        </p:txBody>
      </p:sp>
      <p:sp>
        <p:nvSpPr>
          <p:cNvPr id="9" name="Shape 7"/>
          <p:cNvSpPr/>
          <p:nvPr/>
        </p:nvSpPr>
        <p:spPr>
          <a:xfrm rot="-844637">
            <a:off x="565530" y="1774479"/>
            <a:ext cx="1906134" cy="342900"/>
          </a:xfrm>
          <a:prstGeom prst="rect">
            <a:avLst/>
          </a:prstGeom>
          <a:solidFill>
            <a:srgbClr val="00CBD5"/>
          </a:solidFill>
          <a:ln/>
        </p:spPr>
      </p:sp>
      <p:sp>
        <p:nvSpPr>
          <p:cNvPr id="10" name="Text 8"/>
          <p:cNvSpPr/>
          <p:nvPr/>
        </p:nvSpPr>
        <p:spPr>
          <a:xfrm rot="-844637">
            <a:off x="595076" y="1771379"/>
            <a:ext cx="184149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24"/>
              </a:lnSpc>
              <a:buNone/>
            </a:pPr>
            <a:r>
              <a:rPr lang="en-US" sz="1140" b="1" spc="-23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핵심과제 (아이디어 도출중)</a:t>
            </a:r>
            <a:endParaRPr lang="en-US" sz="11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Key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476250" y="1828800"/>
            <a:ext cx="8201025" cy="342900"/>
          </a:xfrm>
          <a:prstGeom prst="rect">
            <a:avLst/>
          </a:prstGeom>
          <a:noFill/>
          <a:ln/>
        </p:spPr>
      </p:sp>
      <p:sp>
        <p:nvSpPr>
          <p:cNvPr id="4" name="Shape 2"/>
          <p:cNvSpPr/>
          <p:nvPr/>
        </p:nvSpPr>
        <p:spPr>
          <a:xfrm>
            <a:off x="476250" y="1828800"/>
            <a:ext cx="17145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95300" y="1828800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 1Q</a:t>
            </a:r>
            <a:endParaRPr lang="en-US" sz="1283" dirty="0"/>
          </a:p>
        </p:txBody>
      </p:sp>
      <p:sp>
        <p:nvSpPr>
          <p:cNvPr id="6" name="Shape 4"/>
          <p:cNvSpPr/>
          <p:nvPr/>
        </p:nvSpPr>
        <p:spPr>
          <a:xfrm>
            <a:off x="2638425" y="1828800"/>
            <a:ext cx="17145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2657475" y="1828800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 2Q</a:t>
            </a:r>
            <a:endParaRPr lang="en-US" sz="1283" dirty="0"/>
          </a:p>
        </p:txBody>
      </p:sp>
      <p:sp>
        <p:nvSpPr>
          <p:cNvPr id="8" name="Shape 6"/>
          <p:cNvSpPr/>
          <p:nvPr/>
        </p:nvSpPr>
        <p:spPr>
          <a:xfrm>
            <a:off x="4800600" y="1828800"/>
            <a:ext cx="17145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4819650" y="1828800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 3Q</a:t>
            </a:r>
            <a:endParaRPr lang="en-US" sz="1283" dirty="0"/>
          </a:p>
        </p:txBody>
      </p:sp>
      <p:sp>
        <p:nvSpPr>
          <p:cNvPr id="10" name="Shape 8"/>
          <p:cNvSpPr/>
          <p:nvPr/>
        </p:nvSpPr>
        <p:spPr>
          <a:xfrm>
            <a:off x="6962775" y="1828800"/>
            <a:ext cx="1714500" cy="342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981825" y="1828800"/>
            <a:ext cx="16764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 4Q</a:t>
            </a:r>
            <a:endParaRPr lang="en-US" sz="1283" dirty="0"/>
          </a:p>
        </p:txBody>
      </p:sp>
      <p:sp>
        <p:nvSpPr>
          <p:cNvPr id="12" name="Text 10"/>
          <p:cNvSpPr/>
          <p:nvPr/>
        </p:nvSpPr>
        <p:spPr>
          <a:xfrm>
            <a:off x="476250" y="2362200"/>
            <a:ext cx="1714500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Hand-over 준비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iOS/Android 연계 강화 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 성과 지표 수립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방향성 고도화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 온보딩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스터디</a:t>
            </a:r>
            <a:endParaRPr lang="en-US" sz="855" dirty="0"/>
          </a:p>
        </p:txBody>
      </p:sp>
      <p:sp>
        <p:nvSpPr>
          <p:cNvPr id="13" name="Text 11"/>
          <p:cNvSpPr/>
          <p:nvPr/>
        </p:nvSpPr>
        <p:spPr>
          <a:xfrm>
            <a:off x="2638425" y="2362200"/>
            <a:ext cx="1714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컴포넌트 맵핑 대응 시작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 설계 아이데이션</a:t>
            </a:r>
            <a:endParaRPr lang="en-US" sz="855" dirty="0"/>
          </a:p>
          <a:p>
            <a:pPr algn="l" lvl="1" marL="6858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 디자인 사이트 설계 시작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컴포넌트 실제 사용 데이터 분석 (데이터 기반 고도화 준비)</a:t>
            </a:r>
            <a:endParaRPr lang="en-US" sz="855" dirty="0"/>
          </a:p>
        </p:txBody>
      </p:sp>
      <p:sp>
        <p:nvSpPr>
          <p:cNvPr id="14" name="Text 12"/>
          <p:cNvSpPr/>
          <p:nvPr/>
        </p:nvSpPr>
        <p:spPr>
          <a:xfrm>
            <a:off x="4800600" y="2362200"/>
            <a:ext cx="1714500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 설계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컴포넌트 UI 디자인 고도화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시스템 라이브러리 구조 설계</a:t>
            </a:r>
            <a:endParaRPr lang="en-US" sz="855" dirty="0"/>
          </a:p>
          <a:p>
            <a:pPr algn="l" lvl="1" marL="6858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템플릿 배포</a:t>
            </a:r>
            <a:endParaRPr lang="en-US" sz="855" dirty="0"/>
          </a:p>
        </p:txBody>
      </p:sp>
      <p:sp>
        <p:nvSpPr>
          <p:cNvPr id="15" name="Text 13"/>
          <p:cNvSpPr/>
          <p:nvPr/>
        </p:nvSpPr>
        <p:spPr>
          <a:xfrm>
            <a:off x="6962775" y="2362200"/>
            <a:ext cx="17145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00CBD5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에이전트 구축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기획-디자인 시스템 워크샵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시스템 라이브러리 제작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2027년 로드맵 수립</a:t>
            </a:r>
            <a:endParaRPr lang="en-US" sz="855" dirty="0"/>
          </a:p>
          <a:p>
            <a:pPr algn="l" marL="342900" indent="-342900">
              <a:lnSpc>
                <a:spcPts val="1368"/>
              </a:lnSpc>
              <a:buSzPct val="100000"/>
              <a:buChar char="•"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 디자인 사이트 오픈 (거점)</a:t>
            </a:r>
            <a:endParaRPr lang="en-US" sz="855" dirty="0"/>
          </a:p>
        </p:txBody>
      </p:sp>
      <p:sp>
        <p:nvSpPr>
          <p:cNvPr id="16" name="Text 14"/>
          <p:cNvSpPr/>
          <p:nvPr/>
        </p:nvSpPr>
        <p:spPr>
          <a:xfrm>
            <a:off x="1171575" y="4048125"/>
            <a:ext cx="24145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00CBD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기술적 이관 및 AI를 활용한 개발 연계 강화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4819650" y="4048125"/>
            <a:ext cx="3248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11"/>
              </a:lnSpc>
              <a:buNone/>
            </a:pPr>
            <a:r>
              <a:rPr lang="en-US" sz="1069" b="1" spc="-21" kern="0" dirty="0">
                <a:solidFill>
                  <a:srgbClr val="00CBD5">
                    <a:alpha val="99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에이전트를 통한 코어 시스템 강화 및 로컬 시스템 위임</a:t>
            </a:r>
            <a:endParaRPr lang="en-US" sz="1069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95300" y="3793331"/>
            <a:ext cx="3774281" cy="7014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40806" y="3888581"/>
            <a:ext cx="5929313" cy="7014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- 2Q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3152775" y="1352550"/>
            <a:ext cx="2228850" cy="709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429000" y="1352550"/>
            <a:ext cx="167640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web 컴포넌트 맵핑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152775" y="2176463"/>
            <a:ext cx="2228850" cy="71437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2176463"/>
            <a:ext cx="16764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AI 에이전트 아이데이션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3152775" y="3128963"/>
            <a:ext cx="2228850" cy="709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128963"/>
            <a:ext cx="167640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글로벌 컴포넌트 분석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3152775" y="3948112"/>
            <a:ext cx="2228850" cy="70961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3948112"/>
            <a:ext cx="1676400" cy="70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파운데이션 고도화</a:t>
            </a:r>
            <a:endParaRPr lang="en-US" sz="1283" dirty="0"/>
          </a:p>
        </p:txBody>
      </p:sp>
      <p:sp>
        <p:nvSpPr>
          <p:cNvPr id="11" name="Shape 9"/>
          <p:cNvSpPr/>
          <p:nvPr/>
        </p:nvSpPr>
        <p:spPr>
          <a:xfrm>
            <a:off x="5634038" y="1352550"/>
            <a:ext cx="3033713" cy="809625"/>
          </a:xfrm>
          <a:prstGeom prst="rect">
            <a:avLst/>
          </a:prstGeom>
          <a:noFill/>
          <a:ln/>
        </p:spPr>
      </p:sp>
      <p:sp>
        <p:nvSpPr>
          <p:cNvPr id="12" name="Text 10"/>
          <p:cNvSpPr/>
          <p:nvPr/>
        </p:nvSpPr>
        <p:spPr>
          <a:xfrm>
            <a:off x="5634038" y="1352550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AI 활용하여 효율적인 Web 컴포넌트 맵핑 방식 찾기</a:t>
            </a:r>
            <a:endParaRPr lang="en-US" sz="1069" dirty="0"/>
          </a:p>
        </p:txBody>
      </p:sp>
      <p:sp>
        <p:nvSpPr>
          <p:cNvPr id="13" name="Text 11"/>
          <p:cNvSpPr/>
          <p:nvPr/>
        </p:nvSpPr>
        <p:spPr>
          <a:xfrm>
            <a:off x="5634038" y="1643063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Web 개발팀과 sync 미팅, 방향성 합의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5634038" y="193357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컴포넌트 맵핑 시작</a:t>
            </a:r>
            <a:endParaRPr lang="en-US" sz="1069" dirty="0"/>
          </a:p>
        </p:txBody>
      </p:sp>
      <p:sp>
        <p:nvSpPr>
          <p:cNvPr id="15" name="Shape 13"/>
          <p:cNvSpPr/>
          <p:nvPr/>
        </p:nvSpPr>
        <p:spPr>
          <a:xfrm>
            <a:off x="5634038" y="2428875"/>
            <a:ext cx="3033713" cy="519113"/>
          </a:xfrm>
          <a:prstGeom prst="rect">
            <a:avLst/>
          </a:prstGeom>
          <a:noFill/>
          <a:ln/>
        </p:spPr>
      </p:sp>
      <p:sp>
        <p:nvSpPr>
          <p:cNvPr id="16" name="Text 14"/>
          <p:cNvSpPr/>
          <p:nvPr/>
        </p:nvSpPr>
        <p:spPr>
          <a:xfrm>
            <a:off x="5634038" y="242887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위버스에 필요한 AI 에이전트 방향성 찾기</a:t>
            </a:r>
            <a:endParaRPr lang="en-US" sz="1069" dirty="0"/>
          </a:p>
        </p:txBody>
      </p:sp>
      <p:sp>
        <p:nvSpPr>
          <p:cNvPr id="17" name="Text 15"/>
          <p:cNvSpPr/>
          <p:nvPr/>
        </p:nvSpPr>
        <p:spPr>
          <a:xfrm>
            <a:off x="5634038" y="2719388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 - AI 맵핑</a:t>
            </a:r>
            <a:endParaRPr lang="en-US" sz="1069" dirty="0"/>
          </a:p>
        </p:txBody>
      </p:sp>
      <p:sp>
        <p:nvSpPr>
          <p:cNvPr id="18" name="Shape 16"/>
          <p:cNvSpPr/>
          <p:nvPr/>
        </p:nvSpPr>
        <p:spPr>
          <a:xfrm>
            <a:off x="5634038" y="3224213"/>
            <a:ext cx="3033713" cy="519113"/>
          </a:xfrm>
          <a:prstGeom prst="rect">
            <a:avLst/>
          </a:prstGeom>
          <a:noFill/>
          <a:ln/>
        </p:spPr>
      </p:sp>
      <p:sp>
        <p:nvSpPr>
          <p:cNvPr id="19" name="Text 17"/>
          <p:cNvSpPr/>
          <p:nvPr/>
        </p:nvSpPr>
        <p:spPr>
          <a:xfrm>
            <a:off x="5634038" y="3224213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컴포넌트 사용 현황 파악 (Detach 등)</a:t>
            </a:r>
            <a:endParaRPr lang="en-US" sz="1069" dirty="0"/>
          </a:p>
        </p:txBody>
      </p:sp>
      <p:sp>
        <p:nvSpPr>
          <p:cNvPr id="20" name="Text 18"/>
          <p:cNvSpPr/>
          <p:nvPr/>
        </p:nvSpPr>
        <p:spPr>
          <a:xfrm>
            <a:off x="5634038" y="351472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 컴포넌트 설계 방향성 재수립</a:t>
            </a:r>
            <a:endParaRPr lang="en-US" sz="1069" dirty="0"/>
          </a:p>
        </p:txBody>
      </p:sp>
      <p:sp>
        <p:nvSpPr>
          <p:cNvPr id="21" name="Shape 19"/>
          <p:cNvSpPr/>
          <p:nvPr/>
        </p:nvSpPr>
        <p:spPr>
          <a:xfrm>
            <a:off x="5634038" y="4191000"/>
            <a:ext cx="3033713" cy="228600"/>
          </a:xfrm>
          <a:prstGeom prst="rect">
            <a:avLst/>
          </a:prstGeom>
          <a:noFill/>
          <a:ln/>
        </p:spPr>
      </p:sp>
      <p:sp>
        <p:nvSpPr>
          <p:cNvPr id="22" name="Text 20"/>
          <p:cNvSpPr/>
          <p:nvPr/>
        </p:nvSpPr>
        <p:spPr>
          <a:xfrm>
            <a:off x="5634038" y="4191000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토큰 (컬러, Radius 등) 재설계</a:t>
            </a:r>
            <a:endParaRPr lang="en-US" sz="1069" dirty="0"/>
          </a:p>
        </p:txBody>
      </p:sp>
      <p:sp>
        <p:nvSpPr>
          <p:cNvPr id="23" name="Text 21"/>
          <p:cNvSpPr/>
          <p:nvPr/>
        </p:nvSpPr>
        <p:spPr>
          <a:xfrm>
            <a:off x="481012" y="1352550"/>
            <a:ext cx="2452688" cy="150495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81012" y="3128963"/>
            <a:ext cx="2452688" cy="1528763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DS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- 3Q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3152775" y="1352550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429000" y="1352550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AI 에이전트 설계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152775" y="2547938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2547938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글로벌 컴포넌트 고도화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3152775" y="3738563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738563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로컬 라이브러리 가이드 설계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5634038" y="1352550"/>
            <a:ext cx="3033713" cy="809625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634038" y="1352550"/>
            <a:ext cx="32718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2Q 아이디어 바탕으로 빠르게 여러번의 이터레이션 진행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5634038" y="1643063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FE 개발과의 협업</a:t>
            </a:r>
            <a:endParaRPr lang="en-US" sz="1069" dirty="0"/>
          </a:p>
        </p:txBody>
      </p:sp>
      <p:sp>
        <p:nvSpPr>
          <p:cNvPr id="12" name="Text 10"/>
          <p:cNvSpPr/>
          <p:nvPr/>
        </p:nvSpPr>
        <p:spPr>
          <a:xfrm>
            <a:off x="5634038" y="193357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 도출</a:t>
            </a:r>
            <a:endParaRPr lang="en-US" sz="1069" dirty="0"/>
          </a:p>
        </p:txBody>
      </p:sp>
      <p:sp>
        <p:nvSpPr>
          <p:cNvPr id="13" name="Shape 11"/>
          <p:cNvSpPr/>
          <p:nvPr/>
        </p:nvSpPr>
        <p:spPr>
          <a:xfrm>
            <a:off x="5634038" y="2576513"/>
            <a:ext cx="3033713" cy="747713"/>
          </a:xfrm>
          <a:prstGeom prst="rect">
            <a:avLst/>
          </a:prstGeom>
          <a:noFill/>
          <a:ln/>
        </p:spPr>
      </p:sp>
      <p:sp>
        <p:nvSpPr>
          <p:cNvPr id="14" name="Text 12"/>
          <p:cNvSpPr/>
          <p:nvPr/>
        </p:nvSpPr>
        <p:spPr>
          <a:xfrm>
            <a:off x="5634038" y="2576513"/>
            <a:ext cx="32718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GUI 고도화를 위한 내부 설문 및 인터뷰 (디자인 시스템 만족도, 사용성 등에 대한 고민)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5634038" y="3095625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Detach를 줄이기 위한 UI 설계 고도화</a:t>
            </a:r>
            <a:endParaRPr lang="en-US" sz="1069" dirty="0"/>
          </a:p>
        </p:txBody>
      </p:sp>
      <p:sp>
        <p:nvSpPr>
          <p:cNvPr id="16" name="Shape 14"/>
          <p:cNvSpPr/>
          <p:nvPr/>
        </p:nvSpPr>
        <p:spPr>
          <a:xfrm>
            <a:off x="5634038" y="3767138"/>
            <a:ext cx="3033713" cy="747713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634038" y="3767138"/>
            <a:ext cx="3086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라이브러리 구축 가이드 제작 (글로벌 컴포넌트를 기반으로 만드는 프로세스 등 정립)</a:t>
            </a:r>
            <a:endParaRPr lang="en-US" sz="1069" dirty="0"/>
          </a:p>
        </p:txBody>
      </p:sp>
      <p:sp>
        <p:nvSpPr>
          <p:cNvPr id="18" name="Text 16"/>
          <p:cNvSpPr/>
          <p:nvPr/>
        </p:nvSpPr>
        <p:spPr>
          <a:xfrm>
            <a:off x="5634038" y="4286250"/>
            <a:ext cx="303371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로컬 라이브러리 기초 템플릿 제작 및 배포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481012" y="1352550"/>
            <a:ext cx="2452688" cy="804863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" y="3738563"/>
            <a:ext cx="2452688" cy="80010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" y="2552700"/>
            <a:ext cx="2452688" cy="80010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 &amp; DS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Roadmap - 4Q Task</a:t>
            </a:r>
            <a:endParaRPr lang="en-US" sz="2138" dirty="0"/>
          </a:p>
        </p:txBody>
      </p:sp>
      <p:sp>
        <p:nvSpPr>
          <p:cNvPr id="3" name="Shape 1"/>
          <p:cNvSpPr/>
          <p:nvPr/>
        </p:nvSpPr>
        <p:spPr>
          <a:xfrm>
            <a:off x="3152775" y="1352550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3429000" y="1352550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AI 에이전트 구축</a:t>
            </a:r>
            <a:endParaRPr lang="en-US" sz="1283" dirty="0"/>
          </a:p>
        </p:txBody>
      </p:sp>
      <p:sp>
        <p:nvSpPr>
          <p:cNvPr id="5" name="Shape 3"/>
          <p:cNvSpPr/>
          <p:nvPr/>
        </p:nvSpPr>
        <p:spPr>
          <a:xfrm>
            <a:off x="3152775" y="2547938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429000" y="2547938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기획-디자인</a:t>
            </a:r>
            <a:endParaRPr lang="en-US" sz="1283" dirty="0"/>
          </a:p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디자인 시스템 워크샵</a:t>
            </a:r>
            <a:endParaRPr lang="en-US" sz="1283" dirty="0"/>
          </a:p>
        </p:txBody>
      </p:sp>
      <p:sp>
        <p:nvSpPr>
          <p:cNvPr id="7" name="Shape 5"/>
          <p:cNvSpPr/>
          <p:nvPr/>
        </p:nvSpPr>
        <p:spPr>
          <a:xfrm>
            <a:off x="3152775" y="3738563"/>
            <a:ext cx="2228850" cy="80486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3738563"/>
            <a:ext cx="1676400" cy="8048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52"/>
              </a:lnSpc>
              <a:buNone/>
            </a:pPr>
            <a:r>
              <a:rPr lang="en-US" sz="1283" b="1" spc="-26" kern="0" dirty="0">
                <a:solidFill>
                  <a:srgbClr val="000000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로컬 라이브러리 제작</a:t>
            </a:r>
            <a:endParaRPr lang="en-US" sz="1283" dirty="0"/>
          </a:p>
        </p:txBody>
      </p:sp>
      <p:sp>
        <p:nvSpPr>
          <p:cNvPr id="9" name="Shape 7"/>
          <p:cNvSpPr/>
          <p:nvPr/>
        </p:nvSpPr>
        <p:spPr>
          <a:xfrm>
            <a:off x="5634038" y="1352550"/>
            <a:ext cx="3081338" cy="747713"/>
          </a:xfrm>
          <a:prstGeom prst="rect">
            <a:avLst/>
          </a:prstGeom>
          <a:noFill/>
          <a:ln/>
        </p:spPr>
      </p:sp>
      <p:sp>
        <p:nvSpPr>
          <p:cNvPr id="10" name="Text 8"/>
          <p:cNvSpPr/>
          <p:nvPr/>
        </p:nvSpPr>
        <p:spPr>
          <a:xfrm>
            <a:off x="5634038" y="1352550"/>
            <a:ext cx="3081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2Q에 제작한 설계와 MVP 기반으로 실제 사용 가능한 에이전트 구축</a:t>
            </a:r>
            <a:endParaRPr lang="en-US" sz="1069" dirty="0"/>
          </a:p>
        </p:txBody>
      </p:sp>
      <p:sp>
        <p:nvSpPr>
          <p:cNvPr id="11" name="Text 9"/>
          <p:cNvSpPr/>
          <p:nvPr/>
        </p:nvSpPr>
        <p:spPr>
          <a:xfrm>
            <a:off x="5634038" y="1871663"/>
            <a:ext cx="308133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프로덕트 디자인 실사용자 대상 테스트 진행</a:t>
            </a:r>
            <a:endParaRPr lang="en-US" sz="1069" dirty="0"/>
          </a:p>
        </p:txBody>
      </p:sp>
      <p:sp>
        <p:nvSpPr>
          <p:cNvPr id="12" name="Shape 10"/>
          <p:cNvSpPr/>
          <p:nvPr/>
        </p:nvSpPr>
        <p:spPr>
          <a:xfrm>
            <a:off x="5634038" y="2547938"/>
            <a:ext cx="3205163" cy="1038225"/>
          </a:xfrm>
          <a:prstGeom prst="rect">
            <a:avLst/>
          </a:prstGeom>
          <a:noFill/>
          <a:ln/>
        </p:spPr>
      </p:sp>
      <p:sp>
        <p:nvSpPr>
          <p:cNvPr id="13" name="Text 11"/>
          <p:cNvSpPr/>
          <p:nvPr/>
        </p:nvSpPr>
        <p:spPr>
          <a:xfrm>
            <a:off x="5634038" y="2547938"/>
            <a:ext cx="31527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기획의 디자인 시스템 이해도를 높이기 위한 워크샵 세션 진행</a:t>
            </a:r>
            <a:endParaRPr lang="en-US" sz="1069" dirty="0"/>
          </a:p>
        </p:txBody>
      </p:sp>
      <p:sp>
        <p:nvSpPr>
          <p:cNvPr id="14" name="Text 12"/>
          <p:cNvSpPr/>
          <p:nvPr/>
        </p:nvSpPr>
        <p:spPr>
          <a:xfrm>
            <a:off x="5634038" y="3067050"/>
            <a:ext cx="3205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디자인 시스템의 구조와 개발과의 맵핑 설명</a:t>
            </a:r>
            <a:endParaRPr lang="en-US" sz="1069" dirty="0"/>
          </a:p>
        </p:txBody>
      </p:sp>
      <p:sp>
        <p:nvSpPr>
          <p:cNvPr id="15" name="Text 13"/>
          <p:cNvSpPr/>
          <p:nvPr/>
        </p:nvSpPr>
        <p:spPr>
          <a:xfrm>
            <a:off x="5634038" y="3357563"/>
            <a:ext cx="32051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기획서 작성 시, 확인하면 좋을 부분 안내</a:t>
            </a:r>
            <a:endParaRPr lang="en-US" sz="1069" dirty="0"/>
          </a:p>
        </p:txBody>
      </p:sp>
      <p:sp>
        <p:nvSpPr>
          <p:cNvPr id="16" name="Shape 14"/>
          <p:cNvSpPr/>
          <p:nvPr/>
        </p:nvSpPr>
        <p:spPr>
          <a:xfrm>
            <a:off x="5634038" y="3881438"/>
            <a:ext cx="2852738" cy="519113"/>
          </a:xfrm>
          <a:prstGeom prst="rect">
            <a:avLst/>
          </a:prstGeom>
          <a:noFill/>
          <a:ln/>
        </p:spPr>
      </p:sp>
      <p:sp>
        <p:nvSpPr>
          <p:cNvPr id="17" name="Text 15"/>
          <p:cNvSpPr/>
          <p:nvPr/>
        </p:nvSpPr>
        <p:spPr>
          <a:xfrm>
            <a:off x="5634038" y="3881438"/>
            <a:ext cx="529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각 도메인 디자이너들이 로컬 라이브러리 제작</a:t>
            </a:r>
            <a:endParaRPr lang="en-US" sz="1069" dirty="0"/>
          </a:p>
        </p:txBody>
      </p:sp>
      <p:sp>
        <p:nvSpPr>
          <p:cNvPr id="18" name="Text 16"/>
          <p:cNvSpPr/>
          <p:nvPr/>
        </p:nvSpPr>
        <p:spPr>
          <a:xfrm>
            <a:off x="5634038" y="4171950"/>
            <a:ext cx="3829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710"/>
              </a:lnSpc>
              <a:buSzPct val="100000"/>
              <a:buChar char="•"/>
            </a:pPr>
            <a:r>
              <a:rPr lang="en-US" sz="1069" b="1" spc="-21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글로벌의 컨펌이 아닌, 도메인 디자이너들에게 권한 부여</a:t>
            </a:r>
            <a:endParaRPr lang="en-US" sz="1069" dirty="0"/>
          </a:p>
        </p:txBody>
      </p:sp>
      <p:sp>
        <p:nvSpPr>
          <p:cNvPr id="19" name="Text 17"/>
          <p:cNvSpPr/>
          <p:nvPr/>
        </p:nvSpPr>
        <p:spPr>
          <a:xfrm>
            <a:off x="481012" y="1352550"/>
            <a:ext cx="2452688" cy="804863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</a:t>
            </a: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1012" y="3738563"/>
            <a:ext cx="2452688" cy="80010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DS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81012" y="2543175"/>
            <a:ext cx="2452688" cy="800100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 &amp; DS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2026 Member R&amp;R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76250" y="2333625"/>
            <a:ext cx="3995738" cy="6000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</a:t>
            </a: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495675" y="1271588"/>
            <a:ext cx="2157413" cy="600075"/>
          </a:xfrm>
          <a:prstGeom prst="rect">
            <a:avLst/>
          </a:prstGeom>
          <a:solidFill>
            <a:srgbClr val="00CB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AI&amp;DS : 이정주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0" y="2333625"/>
            <a:ext cx="4000500" cy="595313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0" y="3176588"/>
            <a:ext cx="1924050" cy="628650"/>
          </a:xfrm>
          <a:prstGeom prst="rect">
            <a:avLst/>
          </a:prstGeom>
          <a:noFill/>
          <a:ln w="4524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이현중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76250" y="3176588"/>
            <a:ext cx="1924050" cy="628650"/>
          </a:xfrm>
          <a:prstGeom prst="rect">
            <a:avLst/>
          </a:prstGeom>
          <a:noFill/>
          <a:ln w="4524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전지영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547938" y="3176588"/>
            <a:ext cx="1924050" cy="628650"/>
          </a:xfrm>
          <a:prstGeom prst="rect">
            <a:avLst/>
          </a:prstGeom>
          <a:noFill/>
          <a:ln w="4524">
            <a:solidFill>
              <a:srgbClr val="FFFFFF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류선영 (객원)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7250" y="3905250"/>
            <a:ext cx="4000500" cy="628650"/>
          </a:xfrm>
          <a:prstGeom prst="rect">
            <a:avLst/>
          </a:prstGeom>
          <a:noFill/>
          <a:ln w="4524">
            <a:solidFill>
              <a:srgbClr val="FFFFFF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1, 2팀  객원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76250" y="3905250"/>
            <a:ext cx="4000500" cy="628650"/>
          </a:xfrm>
          <a:prstGeom prst="rect">
            <a:avLst/>
          </a:prstGeom>
          <a:noFill/>
          <a:ln w="4524">
            <a:solidFill>
              <a:srgbClr val="FFFFFF"/>
            </a:solidFill>
            <a:prstDash val="dash"/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1, 2팀 객원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743700" y="3176588"/>
            <a:ext cx="1924050" cy="628650"/>
          </a:xfrm>
          <a:prstGeom prst="rect">
            <a:avLst/>
          </a:prstGeom>
          <a:noFill/>
          <a:ln w="4524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이나은</a:t>
            </a:r>
            <a:endParaRPr lang="en-US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502694" y="1878806"/>
            <a:ext cx="4181475" cy="4643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85775" y="4729163"/>
            <a:ext cx="81772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8"/>
              </a:lnSpc>
              <a:buNone/>
            </a:pPr>
            <a:r>
              <a:rPr lang="en-US" sz="855" b="1" spc="-17" kern="0" dirty="0">
                <a:solidFill>
                  <a:srgbClr val="FFFFFF">
                    <a:alpha val="99000"/>
                  </a:srgbClr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담당자 배정은 ‘메인' 업무 수행을 의미하며, AI와 DS는 모든 업무를 공유하며 서로 소통해야함</a:t>
            </a:r>
            <a:endParaRPr lang="en-US" sz="85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6250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Appendix </a:t>
            </a:r>
            <a:endParaRPr lang="en-US" sz="2138" dirty="0"/>
          </a:p>
        </p:txBody>
      </p:sp>
      <p:sp>
        <p:nvSpPr>
          <p:cNvPr id="3" name="Text 1"/>
          <p:cNvSpPr/>
          <p:nvPr/>
        </p:nvSpPr>
        <p:spPr>
          <a:xfrm>
            <a:off x="476250" y="1581150"/>
            <a:ext cx="55626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283"/>
              </a:lnSpc>
              <a:buSzPct val="100000"/>
              <a:buChar char="•"/>
            </a:pPr>
            <a:r>
              <a:rPr lang="en-US" sz="1069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하이브리드 디자인 시스템 전환을 위한 코어 컴포넌트 전략 분석 - </a:t>
            </a:r>
            <a:pPr algn="l" indent="0" marL="0">
              <a:lnSpc>
                <a:spcPts val="1283"/>
              </a:lnSpc>
              <a:buNone/>
            </a:pPr>
            <a:r>
              <a:rPr lang="en-US" sz="1069" u="sng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보고서 바로가기</a:t>
            </a:r>
            <a:endParaRPr lang="en-US" sz="1069" dirty="0"/>
          </a:p>
          <a:p>
            <a:pPr algn="l" marL="342900" indent="-342900">
              <a:lnSpc>
                <a:spcPts val="1283"/>
              </a:lnSpc>
              <a:buSzPct val="100000"/>
              <a:buChar char="•"/>
            </a:pPr>
            <a:r>
              <a:rPr lang="en-US" sz="1069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위버스 디자인 시스템 아키텍처 및 거버넌스 전략 - </a:t>
            </a:r>
            <a:pPr algn="l" indent="0" marL="0">
              <a:lnSpc>
                <a:spcPts val="1283"/>
              </a:lnSpc>
              <a:buNone/>
            </a:pPr>
            <a:r>
              <a:rPr lang="en-US" sz="1069" u="sng" spc="-24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보고서 바로가기</a:t>
            </a:r>
            <a:endParaRPr lang="en-US" sz="1069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7175" y="4776788"/>
            <a:ext cx="3271838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6"/>
              </a:lnSpc>
              <a:buNone/>
            </a:pPr>
            <a:r>
              <a:rPr lang="en-US" sz="855" b="1" spc="-19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Chord Design System 2026 Roadmap</a:t>
            </a:r>
            <a:endParaRPr lang="en-US" sz="855" dirty="0"/>
          </a:p>
        </p:txBody>
      </p:sp>
      <p:sp>
        <p:nvSpPr>
          <p:cNvPr id="3" name="Text 1"/>
          <p:cNvSpPr/>
          <p:nvPr/>
        </p:nvSpPr>
        <p:spPr>
          <a:xfrm>
            <a:off x="257175" y="476250"/>
            <a:ext cx="8191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65"/>
              </a:lnSpc>
              <a:buNone/>
            </a:pPr>
            <a:r>
              <a:rPr lang="en-US" sz="2138" b="1" spc="-47" kern="0" dirty="0">
                <a:solidFill>
                  <a:srgbClr val="FFFFFF">
                    <a:alpha val="99000"/>
                  </a:srgbClr>
                </a:solidFill>
                <a:latin typeface="CircularXX TT" pitchFamily="34" charset="0"/>
                <a:ea typeface="CircularXX TT" pitchFamily="34" charset="-122"/>
                <a:cs typeface="CircularXX TT" pitchFamily="34" charset="-120"/>
              </a:rPr>
              <a:t>E.O.D</a:t>
            </a:r>
            <a:endParaRPr lang="en-US" sz="2138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2026-04-26T06:47:38Z</dcterms:created>
  <dcterms:modified xsi:type="dcterms:W3CDTF">2026-04-26T06:47:38Z</dcterms:modified>
</cp:coreProperties>
</file>